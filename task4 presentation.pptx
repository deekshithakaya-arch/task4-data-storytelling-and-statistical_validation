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20"/>
  </p:notesMasterIdLst>
  <p:sldIdLst>
    <p:sldId id="256" r:id="rId2"/>
    <p:sldId id="257" r:id="rId3"/>
    <p:sldId id="258" r:id="rId4"/>
    <p:sldId id="267" r:id="rId5"/>
    <p:sldId id="259" r:id="rId6"/>
    <p:sldId id="272" r:id="rId7"/>
    <p:sldId id="268" r:id="rId8"/>
    <p:sldId id="260" r:id="rId9"/>
    <p:sldId id="274" r:id="rId10"/>
    <p:sldId id="275" r:id="rId11"/>
    <p:sldId id="273" r:id="rId12"/>
    <p:sldId id="269" r:id="rId13"/>
    <p:sldId id="262" r:id="rId14"/>
    <p:sldId id="276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76CCA-10D7-441A-BF85-ED30AA99BB6B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13494-197D-4862-9D72-449D204725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42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13494-197D-4862-9D72-449D204725B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13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86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095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2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15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45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51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07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9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04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217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3259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329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864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956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247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69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ABABE-1DED-4445-BB7E-BB347AC934C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1B89D1-9854-47CE-939C-131DFD559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32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ekshithakaya-arch/Task2-EdA-Business-Intelligence/tree/main" TargetMode="External"/><Relationship Id="rId2" Type="http://schemas.openxmlformats.org/officeDocument/2006/relationships/hyperlink" Target="https://github.com/deekshithakaya-arch/Apexplanet-task_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eekshithakaya-arch/Task3-DeepDive-Analysis-Interactive-Dashboarding/tree/main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293D-E1E8-CC13-FD1A-CF4B536CC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490" y="1295401"/>
            <a:ext cx="5024284" cy="213359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TASK-4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06AE7-CB20-E775-FDFC-0AA135BA6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6038" y="5102942"/>
            <a:ext cx="3903407" cy="1238864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K. Deekshitha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05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57AC-BDFC-A360-2C56-CBD5C63E5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8" y="227472"/>
            <a:ext cx="11178048" cy="500115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921B-B266-7450-585D-F26931A2D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855406"/>
            <a:ext cx="11641394" cy="57751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Data Analysis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Superstore sales data and generate business insights using data cleaning, exploratory   data analysis, dashboarding, and statistical validation techniques.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Dataset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 Mode  • Segment   • Country  • City   • State   • Region  • Category   • Sub-Category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 • Quantity   • Discount  • Profit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→ Data immersion and wrangling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→ Exploratory Data Analysis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→ Dashboard Development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→ Statistical Validation &amp; Storytelling</a:t>
            </a:r>
          </a:p>
        </p:txBody>
      </p:sp>
    </p:spTree>
    <p:extLst>
      <p:ext uri="{BB962C8B-B14F-4D97-AF65-F5344CB8AC3E}">
        <p14:creationId xmlns:p14="http://schemas.microsoft.com/office/powerpoint/2010/main" val="325795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EB87-FC63-15D4-E541-C7AEFA98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2" y="-1"/>
            <a:ext cx="11926528" cy="68825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TASK1:Data Immersion and Wrangling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1D7CF-AF9A-60B1-2481-354ACB847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688258"/>
            <a:ext cx="12015020" cy="6169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understand, clean, and prepare the dataset for analysis.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Performed: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Profiling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Missing Value Detection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Duplicate Checking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Type Validation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Outlier Detection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Engineering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Dictionary Creation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Demonstrated: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Wrangling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Validation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Engineering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   • Data Dictionary   • Quality-Checked Data</a:t>
            </a:r>
          </a:p>
        </p:txBody>
      </p:sp>
    </p:spTree>
    <p:extLst>
      <p:ext uri="{BB962C8B-B14F-4D97-AF65-F5344CB8AC3E}">
        <p14:creationId xmlns:p14="http://schemas.microsoft.com/office/powerpoint/2010/main" val="134380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2B008C-A4B3-7100-9BE3-84F172AFE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344129"/>
            <a:ext cx="5820696" cy="5751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DC054A-F1B0-DF0E-D10C-C4C6B67D4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 t="-749" r="34201" b="1"/>
          <a:stretch>
            <a:fillRect/>
          </a:stretch>
        </p:blipFill>
        <p:spPr>
          <a:xfrm>
            <a:off x="6430297" y="344129"/>
            <a:ext cx="5112773" cy="562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2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6436-51EB-72E0-E6A3-06E3A89D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9" y="7222"/>
            <a:ext cx="10685205" cy="7498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Exploratory Data Analysis &amp;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Bussiness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Intelligence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B2DF3-0CE9-5E7B-556F-1939089D4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757085"/>
            <a:ext cx="11562735" cy="545920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sales patterns, profit trends, and business opportunities.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Analysis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Profit Analysis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Region Analysis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Category Analysis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State Analysis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Demonstrated: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Exploratory Data Analysis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Business Intelligence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Distribution  • Profit Distribution  • Region-wise Sales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Category-wise Sales  • Category-wise Profit  • Top 10 States by Sales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69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125B88-B779-2297-6EE6-E97D1A7EF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72" y="178309"/>
            <a:ext cx="5833028" cy="3597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2B3F46-FC96-EAC7-99B9-62848BE9D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070" y="2644877"/>
            <a:ext cx="5549958" cy="392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0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4F82D-4833-CD73-03DE-6DD8BA899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9" y="287817"/>
            <a:ext cx="5118179" cy="31411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D9EF3A-0764-4558-FBEA-0C71F5A65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019" y="2576052"/>
            <a:ext cx="5722375" cy="400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4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383C-2718-ADAE-C840-1D220EAD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4" y="117987"/>
            <a:ext cx="10668000" cy="72758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Deep-Dive Analysis &amp; Interactive Dashboarding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C1AAE-3A61-8916-7CE8-D8B82688C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953728"/>
            <a:ext cx="11857704" cy="59042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interactive dashboards for monitoring business performance.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Performed: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Generation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Region Dashboard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Category Dashboard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Segment Dashboard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Profit Dashboard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Demonstrated: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Design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KPI Analysis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Business Reporting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Region Dashboard  • Interactive Category Dashboard • Interactive Segment Dashboard  • Interactive Profit Dashboard</a:t>
            </a:r>
          </a:p>
        </p:txBody>
      </p:sp>
    </p:spTree>
    <p:extLst>
      <p:ext uri="{BB962C8B-B14F-4D97-AF65-F5344CB8AC3E}">
        <p14:creationId xmlns:p14="http://schemas.microsoft.com/office/powerpoint/2010/main" val="3785581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7C108-4388-6A67-CA7C-8446A3630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" b="3369"/>
          <a:stretch>
            <a:fillRect/>
          </a:stretch>
        </p:blipFill>
        <p:spPr>
          <a:xfrm>
            <a:off x="344128" y="115530"/>
            <a:ext cx="4601497" cy="33134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2A4EC8-52DB-A7A5-E08A-EC7C53ADD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568" y="304800"/>
            <a:ext cx="4532671" cy="4097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FBD56D-BCC1-DC7E-7228-8793D8F45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104" y="3554027"/>
            <a:ext cx="4385186" cy="318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7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01A231-2EC3-61B2-9484-11DA2DD64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" b="3157"/>
          <a:stretch>
            <a:fillRect/>
          </a:stretch>
        </p:blipFill>
        <p:spPr>
          <a:xfrm>
            <a:off x="5250426" y="1707940"/>
            <a:ext cx="6351639" cy="4899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55840-497E-1FD0-5568-51DA432C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" r="1778"/>
          <a:stretch>
            <a:fillRect/>
          </a:stretch>
        </p:blipFill>
        <p:spPr>
          <a:xfrm>
            <a:off x="281039" y="351504"/>
            <a:ext cx="4536767" cy="347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7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C7E7F-68C4-3E5E-5B05-F9EA49660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34" b="3501"/>
          <a:stretch>
            <a:fillRect/>
          </a:stretch>
        </p:blipFill>
        <p:spPr>
          <a:xfrm>
            <a:off x="0" y="101409"/>
            <a:ext cx="5721706" cy="3854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2D032E-717D-ECE0-0C63-79A29BA13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1" b="6528"/>
          <a:stretch>
            <a:fillRect/>
          </a:stretch>
        </p:blipFill>
        <p:spPr>
          <a:xfrm>
            <a:off x="5721706" y="2595716"/>
            <a:ext cx="6293313" cy="41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8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BB858-2933-D0FC-06B8-EE6B65A79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957" y="2635045"/>
            <a:ext cx="6274559" cy="3795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27870A-13A8-446D-E87F-1B4DDAFFE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" y="97655"/>
            <a:ext cx="5525729" cy="43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0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3847-274C-18B7-81CC-092DB092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365125"/>
            <a:ext cx="10773697" cy="60826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32FA-312B-F4A3-5D7E-345CE49B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248697"/>
            <a:ext cx="10842523" cy="4928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varied significantly across regions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.• Certain categories generated higher profits.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segments showed different purchasing patterns.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Discounts influenced profitability.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Regional opportunities for expansion were identified.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 on high-performing regions.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profitability in low-margin categories.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 discount strategies.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 profitable customer segments.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664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20075-8F36-ADEB-B11A-CF4C51A1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117987"/>
            <a:ext cx="9704439" cy="707923"/>
          </a:xfrm>
        </p:spPr>
        <p:txBody>
          <a:bodyPr>
            <a:normAutofit fontScale="90000"/>
          </a:bodyPr>
          <a:lstStyle/>
          <a:p>
            <a:r>
              <a:rPr lang="en-IN" dirty="0"/>
              <a:t>Hypothesis Testing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B1169-039C-AA8E-C86A-04CB67E5F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993058"/>
            <a:ext cx="11700387" cy="56363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Objective:</a:t>
            </a:r>
          </a:p>
          <a:p>
            <a:pPr marL="0" indent="0">
              <a:buNone/>
            </a:pPr>
            <a:r>
              <a:rPr lang="en-IN" sz="1700" dirty="0"/>
              <a:t>Compare the average profit of the </a:t>
            </a:r>
            <a:r>
              <a:rPr lang="en-IN" sz="1700" b="1" dirty="0"/>
              <a:t>Technology</a:t>
            </a:r>
            <a:r>
              <a:rPr lang="en-IN" sz="1700" dirty="0"/>
              <a:t> and </a:t>
            </a:r>
            <a:r>
              <a:rPr lang="en-IN" sz="1700" b="1" dirty="0"/>
              <a:t>Furniture</a:t>
            </a:r>
            <a:r>
              <a:rPr lang="en-IN" sz="1700" dirty="0"/>
              <a:t> categories.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sz="1900" b="1" dirty="0"/>
              <a:t>Null Hypothesis (H₀):</a:t>
            </a:r>
            <a:endParaRPr lang="en-IN" sz="1900" dirty="0"/>
          </a:p>
          <a:p>
            <a:pPr marL="0" indent="0">
              <a:buNone/>
            </a:pPr>
            <a:r>
              <a:rPr lang="en-IN" sz="1700" dirty="0"/>
              <a:t>No significant difference in average profit between the two categories. </a:t>
            </a:r>
          </a:p>
          <a:p>
            <a:pPr marL="0" indent="0">
              <a:buNone/>
            </a:pPr>
            <a:r>
              <a:rPr lang="en-IN" sz="1900" b="1" dirty="0"/>
              <a:t>Alternative Hypothesis (H₁):</a:t>
            </a:r>
            <a:endParaRPr lang="en-IN" sz="1900" dirty="0"/>
          </a:p>
          <a:p>
            <a:pPr marL="0" indent="0">
              <a:buNone/>
            </a:pPr>
            <a:r>
              <a:rPr lang="en-IN" sz="1700" dirty="0"/>
              <a:t>Significant difference in average profit between the two categories. </a:t>
            </a:r>
          </a:p>
          <a:p>
            <a:pPr marL="0" indent="0">
              <a:buNone/>
            </a:pPr>
            <a:r>
              <a:rPr lang="en-IN" sz="1900" b="1" dirty="0"/>
              <a:t>Statistical Test:</a:t>
            </a:r>
            <a:endParaRPr lang="en-IN" sz="1900" dirty="0"/>
          </a:p>
          <a:p>
            <a:pPr marL="0" indent="0">
              <a:buNone/>
            </a:pPr>
            <a:r>
              <a:rPr lang="en-IN" sz="1700" dirty="0"/>
              <a:t>Independent Samples t-test (Welch's t-test) </a:t>
            </a:r>
          </a:p>
          <a:p>
            <a:pPr marL="0" indent="0">
              <a:buNone/>
            </a:pPr>
            <a:r>
              <a:rPr lang="en-IN" sz="1700" dirty="0"/>
              <a:t>Significance Level: </a:t>
            </a:r>
            <a:r>
              <a:rPr lang="en-IN" sz="1700" b="1" dirty="0"/>
              <a:t>α = 0.05</a:t>
            </a:r>
            <a:r>
              <a:rPr lang="en-IN" sz="1700" dirty="0"/>
              <a:t> </a:t>
            </a:r>
          </a:p>
          <a:p>
            <a:pPr marL="0" indent="0">
              <a:buNone/>
            </a:pPr>
            <a:r>
              <a:rPr lang="en-IN" sz="1900" b="1" dirty="0"/>
              <a:t>Results:</a:t>
            </a:r>
            <a:endParaRPr lang="en-IN" sz="1900" dirty="0"/>
          </a:p>
          <a:p>
            <a:r>
              <a:rPr lang="en-IN" sz="1700" dirty="0"/>
              <a:t>T-Statistic: ______ </a:t>
            </a:r>
          </a:p>
          <a:p>
            <a:r>
              <a:rPr lang="en-IN" sz="1700" dirty="0"/>
              <a:t>P-Value: ______ </a:t>
            </a:r>
          </a:p>
          <a:p>
            <a:pPr marL="0" indent="0">
              <a:buNone/>
            </a:pPr>
            <a:r>
              <a:rPr lang="en-IN" sz="1900" b="1" dirty="0"/>
              <a:t>Conclusion:</a:t>
            </a:r>
            <a:endParaRPr lang="en-IN" sz="1900" dirty="0"/>
          </a:p>
          <a:p>
            <a:r>
              <a:rPr lang="en-IN" sz="1700" dirty="0"/>
              <a:t>If </a:t>
            </a:r>
            <a:r>
              <a:rPr lang="en-IN" sz="1700" b="1" dirty="0"/>
              <a:t>p &lt; 0.05</a:t>
            </a:r>
            <a:r>
              <a:rPr lang="en-IN" sz="1700" dirty="0"/>
              <a:t> → Reject H₀ (Significant difference exists). </a:t>
            </a:r>
          </a:p>
          <a:p>
            <a:r>
              <a:rPr lang="en-IN" sz="1700" dirty="0"/>
              <a:t>If </a:t>
            </a:r>
            <a:r>
              <a:rPr lang="en-IN" sz="1700" b="1" dirty="0"/>
              <a:t>p ≥ 0.05</a:t>
            </a:r>
            <a:r>
              <a:rPr lang="en-IN" sz="1700" dirty="0"/>
              <a:t> → Fail to reject H₀ (No significant difference exists).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783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4EE1-2EAE-9571-8080-9605B9BF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176981"/>
            <a:ext cx="10872019" cy="8652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Required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4ACDE-1DCC-711A-2490-09B3EDA54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1042220"/>
            <a:ext cx="11107994" cy="51347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Seaborn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Skills: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Development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Statistical Validation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Intelligence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Storytelling</a:t>
            </a:r>
          </a:p>
        </p:txBody>
      </p:sp>
    </p:spTree>
    <p:extLst>
      <p:ext uri="{BB962C8B-B14F-4D97-AF65-F5344CB8AC3E}">
        <p14:creationId xmlns:p14="http://schemas.microsoft.com/office/powerpoint/2010/main" val="3775041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BEA0-3A32-5BF2-4173-513D54FB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67149"/>
            <a:ext cx="10911348" cy="68825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Deliverables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57309-C567-DD39-8ADA-5E7CD0BB4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855406"/>
            <a:ext cx="10911348" cy="5835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Created: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Cleaned Dataset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Dictionary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Analysis Reports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Portfolio App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Internship Summary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Presentation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TASK1: https://github.com/deekshithakaya-arch/Apexplanet-task_1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TASK2: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https://github.com/deekshithakaya-arch/Task2-EdA-Business-Intelligence/tree/main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TASK3: https://github.com/deekshithakaya-arch/Task3-DeepDive-Analysis-Interactive-Dashboarding/tree/main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792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5EBF-8D4E-CBE7-1BFB-24F26A8B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0970342" cy="83441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6D207-2E1D-EFF1-50A5-BC3799C0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278194"/>
            <a:ext cx="10734368" cy="489876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hands-on experience in the complete data analytics process, including data cleaning, exploratory data analysis, dashboard development, data storytelling, and statistical validation. By analyzing the Superstore Sales Dataset, I gained valuable insights into sales performance, profitability, customer segments, and regional trends. The project enhanced my skills in Python, Pandas, NumPy, Matplotlib, Seaborn,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strengthening my analytical and problem-solving abilities. Overall, this experience improved my understanding of how data-driven insights can support effective business decision-making and real-world problem solving.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89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fessional Thank You Images – Browse 122,335 Stock Photos, Vectors, and  Video | Adobe Stock">
            <a:extLst>
              <a:ext uri="{FF2B5EF4-FFF2-40B4-BE49-F238E27FC236}">
                <a16:creationId xmlns:a16="http://schemas.microsoft.com/office/drawing/2014/main" id="{EA198E90-A4A3-A54C-0795-B6C59F25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68" y="1199535"/>
            <a:ext cx="8298426" cy="446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034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219</TotalTime>
  <Words>694</Words>
  <Application>Microsoft Office PowerPoint</Application>
  <PresentationFormat>Widescreen</PresentationFormat>
  <Paragraphs>133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Times New Roman</vt:lpstr>
      <vt:lpstr>Trebuchet MS</vt:lpstr>
      <vt:lpstr>Wingdings 3</vt:lpstr>
      <vt:lpstr>Facet</vt:lpstr>
      <vt:lpstr>TASK-4</vt:lpstr>
      <vt:lpstr>Project Overview</vt:lpstr>
      <vt:lpstr>TASK1:Data Immersion and Wrangling</vt:lpstr>
      <vt:lpstr>PowerPoint Presentation</vt:lpstr>
      <vt:lpstr>Task 2: Exploratory Data Analysis &amp; Bussiness Intelligence</vt:lpstr>
      <vt:lpstr>PowerPoint Presentation</vt:lpstr>
      <vt:lpstr>PowerPoint Presentation</vt:lpstr>
      <vt:lpstr>TASK 3: Deep-Dive Analysis &amp; Interactive Dashboarding</vt:lpstr>
      <vt:lpstr>PowerPoint Presentation</vt:lpstr>
      <vt:lpstr>PowerPoint Presentation</vt:lpstr>
      <vt:lpstr>PowerPoint Presentation</vt:lpstr>
      <vt:lpstr>PowerPoint Presentation</vt:lpstr>
      <vt:lpstr>Key Business Insights</vt:lpstr>
      <vt:lpstr>Hypothesis Testing </vt:lpstr>
      <vt:lpstr>Skills Required</vt:lpstr>
      <vt:lpstr>Project Deliverables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Deekshitha Kaya</dc:creator>
  <cp:lastModifiedBy>Deekshitha Kaya</cp:lastModifiedBy>
  <cp:revision>84</cp:revision>
  <dcterms:created xsi:type="dcterms:W3CDTF">2026-06-14T11:58:12Z</dcterms:created>
  <dcterms:modified xsi:type="dcterms:W3CDTF">2026-07-09T04:48:25Z</dcterms:modified>
</cp:coreProperties>
</file>